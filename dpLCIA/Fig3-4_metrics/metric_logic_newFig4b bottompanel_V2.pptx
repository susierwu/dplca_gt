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65"/>
    <p:restoredTop sz="96327"/>
  </p:normalViewPr>
  <p:slideViewPr>
    <p:cSldViewPr snapToGrid="0" snapToObjects="1">
      <p:cViewPr varScale="1">
        <p:scale>
          <a:sx n="98" d="100"/>
          <a:sy n="98" d="100"/>
        </p:scale>
        <p:origin x="2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243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ptos" pitchFamily="34" charset="0"/>
              </a:rPr>
              <a:t>Essentially, what determines prospective GWP? </a:t>
            </a: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Three layers jointly determine the final </a:t>
            </a:r>
            <a:r>
              <a:rPr lang="en-US" sz="12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pGWP</a:t>
            </a: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 value: prospective forcing and decay create the gas-specific </a:t>
            </a:r>
            <a:r>
              <a:rPr lang="en-US" sz="12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pAGWP</a:t>
            </a: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 numerator; gas lifetime plus horizon decide what part of the pulse matters most; the chosen CO₂ denominator then converts absolute response into </a:t>
            </a:r>
            <a:r>
              <a:rPr lang="en-US" sz="12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pGWP</a:t>
            </a: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46304"/>
            <a:ext cx="11841480" cy="6547104"/>
          </a:xfrm>
          <a:prstGeom prst="rect">
            <a:avLst/>
          </a:prstGeom>
          <a:solidFill>
            <a:srgbClr val="F7F4EE"/>
          </a:solidFill>
          <a:ln w="12700">
            <a:solidFill>
              <a:srgbClr val="D5CEC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1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7F4EE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1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 flipV="1">
            <a:off x="4901820" y="2697479"/>
            <a:ext cx="626461" cy="1"/>
          </a:xfrm>
          <a:prstGeom prst="line">
            <a:avLst/>
          </a:prstGeom>
          <a:noFill/>
          <a:ln w="12700">
            <a:solidFill>
              <a:srgbClr val="BFB6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385076" y="4588636"/>
            <a:ext cx="900822" cy="0"/>
          </a:xfrm>
          <a:prstGeom prst="line">
            <a:avLst/>
          </a:prstGeom>
          <a:noFill/>
          <a:ln w="12700">
            <a:solidFill>
              <a:srgbClr val="7656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1243583"/>
            <a:ext cx="2121408" cy="1780244"/>
          </a:xfrm>
          <a:prstGeom prst="roundRect">
            <a:avLst>
              <a:gd name="adj" fmla="val 7692"/>
            </a:avLst>
          </a:prstGeom>
          <a:solidFill>
            <a:srgbClr val="E7F5F8"/>
          </a:solidFill>
          <a:ln w="12700">
            <a:solidFill>
              <a:srgbClr val="6CB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" y="1353312"/>
            <a:ext cx="347472" cy="347472"/>
          </a:xfrm>
          <a:prstGeom prst="ellipse">
            <a:avLst/>
          </a:prstGeom>
          <a:solidFill>
            <a:srgbClr val="6CB7C7"/>
          </a:solidFill>
          <a:ln w="12700">
            <a:solidFill>
              <a:srgbClr val="6CB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13578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3" y="1164767"/>
            <a:ext cx="1641005" cy="6915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CB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Prospective marginal forcing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1805939"/>
            <a:ext cx="1920240" cy="12178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Scenario-depending prospective </a:t>
            </a:r>
            <a:r>
              <a:rPr lang="en-US" sz="1200" dirty="0"/>
              <a:t>b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ackground concentration and radiative efficiency (</a:t>
            </a:r>
            <a:r>
              <a:rPr lang="en-US" sz="1200" dirty="0" err="1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); modify instantaneous radiative forcing per unit pulse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7139" y="3191255"/>
            <a:ext cx="2120092" cy="1532713"/>
          </a:xfrm>
          <a:prstGeom prst="roundRect">
            <a:avLst>
              <a:gd name="adj" fmla="val 7692"/>
            </a:avLst>
          </a:prstGeom>
          <a:solidFill>
            <a:srgbClr val="EAF5EE"/>
          </a:solidFill>
          <a:ln w="12700">
            <a:solidFill>
              <a:srgbClr val="4D8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" y="3300984"/>
            <a:ext cx="347472" cy="347472"/>
          </a:xfrm>
          <a:prstGeom prst="ellipse">
            <a:avLst/>
          </a:prstGeom>
          <a:solidFill>
            <a:srgbClr val="4D8B62"/>
          </a:solidFill>
          <a:ln w="12700">
            <a:solidFill>
              <a:srgbClr val="4D8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3055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10087" y="3379807"/>
            <a:ext cx="1463040" cy="22859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D8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Prospective decay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0206" y="3827864"/>
            <a:ext cx="1847088" cy="9784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Scenario-depending prospective decay (</a:t>
            </a:r>
            <a:r>
              <a:rPr lang="en-US" sz="1200" dirty="0" err="1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pDC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controls how gas responses in the future atmosphere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94829" y="1613915"/>
            <a:ext cx="1827198" cy="3005754"/>
          </a:xfrm>
          <a:prstGeom prst="roundRect">
            <a:avLst>
              <a:gd name="adj" fmla="val 3175"/>
            </a:avLst>
          </a:prstGeom>
          <a:solidFill>
            <a:srgbClr val="F3EFE7"/>
          </a:solidFill>
          <a:ln w="12700">
            <a:solidFill>
              <a:srgbClr val="A99F8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378065" y="1717894"/>
            <a:ext cx="384048" cy="384048"/>
          </a:xfrm>
          <a:prstGeom prst="ellipse">
            <a:avLst/>
          </a:prstGeom>
          <a:solidFill>
            <a:srgbClr val="B57A2A"/>
          </a:solidFill>
          <a:ln w="12700">
            <a:solidFill>
              <a:srgbClr val="B57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78065" y="17270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37223" y="1792031"/>
            <a:ext cx="1110036" cy="23577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57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 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89625" y="2119323"/>
            <a:ext cx="1658161" cy="24089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endParaRPr lang="en-US" sz="1000" dirty="0"/>
          </a:p>
          <a:p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 effect: for example, H=20 weights early 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</a:rPr>
              <a:t>forcing (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short-lived CH₄), while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</a:rPr>
              <a:t> </a:t>
            </a:r>
            <a:r>
              <a:rPr lang="en-CA" sz="1200" dirty="0">
                <a:solidFill>
                  <a:srgbClr val="26231D"/>
                </a:solidFill>
                <a:latin typeface="Aptos" pitchFamily="34" charset="0"/>
              </a:rPr>
              <a:t>H=100 captures longer-term atmospheric persistence (e.g., 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intermediate/long-lived </a:t>
            </a:r>
            <a:r>
              <a:rPr lang="en-CA" sz="1200" dirty="0">
                <a:solidFill>
                  <a:srgbClr val="26231D"/>
                </a:solidFill>
                <a:latin typeface="Aptos" pitchFamily="34" charset="0"/>
              </a:rPr>
              <a:t> 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N₂O and long-lived CO₂ </a:t>
            </a:r>
            <a:r>
              <a:rPr lang="en-CA" sz="1200" dirty="0">
                <a:solidFill>
                  <a:srgbClr val="26231D"/>
                </a:solidFill>
                <a:latin typeface="Aptos" pitchFamily="34" charset="0"/>
              </a:rPr>
              <a:t>), where differences in decay behavior and long-tail response become more important</a:t>
            </a:r>
            <a:endParaRPr lang="en-US" sz="1200" dirty="0">
              <a:solidFill>
                <a:srgbClr val="26231D"/>
              </a:solidFill>
              <a:latin typeface="Aptos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569104" y="1656652"/>
            <a:ext cx="1855824" cy="1874520"/>
          </a:xfrm>
          <a:prstGeom prst="roundRect">
            <a:avLst>
              <a:gd name="adj" fmla="val 3902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B57A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651381" y="1698271"/>
            <a:ext cx="384048" cy="384048"/>
          </a:xfrm>
          <a:prstGeom prst="ellipse">
            <a:avLst/>
          </a:prstGeom>
          <a:solidFill>
            <a:srgbClr val="B57A2A"/>
          </a:solidFill>
          <a:ln w="12700">
            <a:solidFill>
              <a:srgbClr val="B57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53193" y="17182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10421" y="1699541"/>
            <a:ext cx="1291958" cy="3994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metric</a:t>
            </a:r>
            <a:endParaRPr 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51381" y="2308386"/>
            <a:ext cx="1598521" cy="94910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prospective forcing, prospective decay, and the </a:t>
            </a:r>
            <a:r>
              <a:rPr lang="en-US" sz="1200" b="1" i="1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r>
              <a:rPr lang="en-US" sz="120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horizon 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850289" y="3184882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choice: which CO₂ denominator is used?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094777" y="3911820"/>
            <a:ext cx="2245884" cy="1198271"/>
          </a:xfrm>
          <a:prstGeom prst="roundRect">
            <a:avLst>
              <a:gd name="adj" fmla="val 7767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456A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86287" y="3926619"/>
            <a:ext cx="1642502" cy="5447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24C46"/>
                </a:solidFill>
                <a:latin typeface="Aptos" pitchFamily="34" charset="0"/>
              </a:rPr>
              <a:t>Fixed-CO₂ approach</a:t>
            </a:r>
          </a:p>
        </p:txBody>
      </p:sp>
      <p:sp>
        <p:nvSpPr>
          <p:cNvPr id="40" name="Text 38"/>
          <p:cNvSpPr/>
          <p:nvPr/>
        </p:nvSpPr>
        <p:spPr>
          <a:xfrm>
            <a:off x="7197524" y="4506546"/>
            <a:ext cx="2090436" cy="5351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Denominator anchored to a fixed CO₂ AGWP (as IPCC AR6)</a:t>
            </a:r>
            <a:endParaRPr lang="en-US" sz="1210" dirty="0"/>
          </a:p>
        </p:txBody>
      </p:sp>
      <p:sp>
        <p:nvSpPr>
          <p:cNvPr id="41" name="Shape 39"/>
          <p:cNvSpPr/>
          <p:nvPr/>
        </p:nvSpPr>
        <p:spPr>
          <a:xfrm>
            <a:off x="9540714" y="3893285"/>
            <a:ext cx="2167216" cy="1198271"/>
          </a:xfrm>
          <a:prstGeom prst="roundRect">
            <a:avLst>
              <a:gd name="adj" fmla="val 7767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765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138792" y="3981841"/>
            <a:ext cx="1800846" cy="482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b="1" dirty="0">
                <a:solidFill>
                  <a:srgbClr val="A24C46"/>
                </a:solidFill>
                <a:latin typeface="Aptos" pitchFamily="34" charset="0"/>
              </a:rPr>
              <a:t>dp-CO₂ approach</a:t>
            </a:r>
          </a:p>
        </p:txBody>
      </p:sp>
      <p:sp>
        <p:nvSpPr>
          <p:cNvPr id="45" name="Text 43"/>
          <p:cNvSpPr/>
          <p:nvPr/>
        </p:nvSpPr>
        <p:spPr>
          <a:xfrm>
            <a:off x="9644696" y="4506546"/>
            <a:ext cx="2179088" cy="7031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Denominator updated prospectively as </a:t>
            </a:r>
            <a:r>
              <a:rPr lang="en-US" sz="1210" dirty="0" err="1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pAGWP</a:t>
            </a:r>
            <a:r>
              <a:rPr lang="en-US" sz="1210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ₕ(CO₂)</a:t>
            </a:r>
            <a:endParaRPr lang="en-US" sz="1210" dirty="0"/>
          </a:p>
        </p:txBody>
      </p:sp>
      <p:sp>
        <p:nvSpPr>
          <p:cNvPr id="46" name="Shape 44"/>
          <p:cNvSpPr/>
          <p:nvPr/>
        </p:nvSpPr>
        <p:spPr>
          <a:xfrm>
            <a:off x="8326346" y="1613916"/>
            <a:ext cx="2251722" cy="1407973"/>
          </a:xfrm>
          <a:prstGeom prst="roundRect">
            <a:avLst>
              <a:gd name="adj" fmla="val 4372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A24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493937" y="1708784"/>
            <a:ext cx="375219" cy="384048"/>
          </a:xfrm>
          <a:prstGeom prst="ellipse">
            <a:avLst/>
          </a:prstGeom>
          <a:solidFill>
            <a:srgbClr val="A24C46"/>
          </a:solidFill>
          <a:ln w="12700">
            <a:solidFill>
              <a:srgbClr val="A24C46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8" name="Text 46"/>
          <p:cNvSpPr/>
          <p:nvPr/>
        </p:nvSpPr>
        <p:spPr>
          <a:xfrm>
            <a:off x="8553253" y="1675850"/>
            <a:ext cx="640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948014" y="1687926"/>
            <a:ext cx="1675146" cy="4856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24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metric (</a:t>
            </a:r>
            <a:r>
              <a:rPr lang="en-US" sz="1400" b="1" dirty="0" err="1">
                <a:solidFill>
                  <a:srgbClr val="A24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pGWP</a:t>
            </a:r>
            <a:r>
              <a:rPr lang="en-US" sz="1400" b="1" dirty="0">
                <a:solidFill>
                  <a:srgbClr val="A24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03797" y="2583966"/>
            <a:ext cx="2257985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pGWPₕ(x) = numerator / denominator</a:t>
            </a:r>
            <a:endParaRPr lang="en-US" sz="1750" dirty="0"/>
          </a:p>
        </p:txBody>
      </p:sp>
      <p:sp>
        <p:nvSpPr>
          <p:cNvPr id="51" name="Text 49"/>
          <p:cNvSpPr/>
          <p:nvPr/>
        </p:nvSpPr>
        <p:spPr>
          <a:xfrm>
            <a:off x="8374641" y="2330388"/>
            <a:ext cx="2110282" cy="2918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 effect:</a:t>
            </a:r>
            <a:endParaRPr lang="en-US" sz="1200" b="1" dirty="0"/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04815EDC-463E-AD69-9116-116CBC7990EA}"/>
              </a:ext>
            </a:extLst>
          </p:cNvPr>
          <p:cNvCxnSpPr>
            <a:stCxn id="17" idx="0"/>
            <a:endCxn id="29" idx="0"/>
          </p:cNvCxnSpPr>
          <p:nvPr/>
        </p:nvCxnSpPr>
        <p:spPr>
          <a:xfrm rot="16200000" flipH="1">
            <a:off x="3943168" y="-897196"/>
            <a:ext cx="491885" cy="4615810"/>
          </a:xfrm>
          <a:prstGeom prst="bentConnector3">
            <a:avLst>
              <a:gd name="adj1" fmla="val -46474"/>
            </a:avLst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1598AAC3-C42C-3226-49AC-20DF6E63B2D9}"/>
              </a:ext>
            </a:extLst>
          </p:cNvPr>
          <p:cNvCxnSpPr>
            <a:cxnSpLocks/>
            <a:stCxn id="23" idx="2"/>
            <a:endCxn id="29" idx="2"/>
          </p:cNvCxnSpPr>
          <p:nvPr/>
        </p:nvCxnSpPr>
        <p:spPr>
          <a:xfrm rot="5400000" flipH="1" flipV="1">
            <a:off x="3372835" y="1682087"/>
            <a:ext cx="1275095" cy="4973266"/>
          </a:xfrm>
          <a:prstGeom prst="bentConnector3">
            <a:avLst>
              <a:gd name="adj1" fmla="val -17928"/>
            </a:avLst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Shape 45">
            <a:extLst>
              <a:ext uri="{FF2B5EF4-FFF2-40B4-BE49-F238E27FC236}">
                <a16:creationId xmlns:a16="http://schemas.microsoft.com/office/drawing/2014/main" id="{AFB1B1AA-EDB1-7D9A-3769-725676E49EBB}"/>
              </a:ext>
            </a:extLst>
          </p:cNvPr>
          <p:cNvSpPr/>
          <p:nvPr/>
        </p:nvSpPr>
        <p:spPr>
          <a:xfrm>
            <a:off x="7249902" y="4031065"/>
            <a:ext cx="375219" cy="384048"/>
          </a:xfrm>
          <a:prstGeom prst="ellipse">
            <a:avLst/>
          </a:prstGeom>
          <a:solidFill>
            <a:srgbClr val="A24C46"/>
          </a:solidFill>
          <a:ln w="12700">
            <a:solidFill>
              <a:srgbClr val="A24C46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9" name="Shape 45">
            <a:extLst>
              <a:ext uri="{FF2B5EF4-FFF2-40B4-BE49-F238E27FC236}">
                <a16:creationId xmlns:a16="http://schemas.microsoft.com/office/drawing/2014/main" id="{5B5C908B-A924-EE5D-9181-5F3794C97617}"/>
              </a:ext>
            </a:extLst>
          </p:cNvPr>
          <p:cNvSpPr/>
          <p:nvPr/>
        </p:nvSpPr>
        <p:spPr>
          <a:xfrm>
            <a:off x="9681476" y="4057048"/>
            <a:ext cx="375219" cy="384048"/>
          </a:xfrm>
          <a:prstGeom prst="ellipse">
            <a:avLst/>
          </a:prstGeom>
          <a:solidFill>
            <a:srgbClr val="A24C46"/>
          </a:solidFill>
          <a:ln w="12700">
            <a:solidFill>
              <a:srgbClr val="A24C46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0" name="Shape 7">
            <a:extLst>
              <a:ext uri="{FF2B5EF4-FFF2-40B4-BE49-F238E27FC236}">
                <a16:creationId xmlns:a16="http://schemas.microsoft.com/office/drawing/2014/main" id="{474A88BB-5531-8C42-D31C-493D9CE75DDC}"/>
              </a:ext>
            </a:extLst>
          </p:cNvPr>
          <p:cNvSpPr/>
          <p:nvPr/>
        </p:nvSpPr>
        <p:spPr>
          <a:xfrm flipV="1">
            <a:off x="7450214" y="2294137"/>
            <a:ext cx="853583" cy="16843"/>
          </a:xfrm>
          <a:prstGeom prst="line">
            <a:avLst/>
          </a:prstGeom>
          <a:noFill/>
          <a:ln w="12700">
            <a:solidFill>
              <a:srgbClr val="BFB6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Right Brace 72">
            <a:extLst>
              <a:ext uri="{FF2B5EF4-FFF2-40B4-BE49-F238E27FC236}">
                <a16:creationId xmlns:a16="http://schemas.microsoft.com/office/drawing/2014/main" id="{E0906351-2BE8-AE95-80E5-8A2EF6D5D9B1}"/>
              </a:ext>
            </a:extLst>
          </p:cNvPr>
          <p:cNvSpPr/>
          <p:nvPr/>
        </p:nvSpPr>
        <p:spPr>
          <a:xfrm rot="16200000">
            <a:off x="9309640" y="2584905"/>
            <a:ext cx="285135" cy="2127770"/>
          </a:xfrm>
          <a:prstGeom prst="righ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B39A5C63-113D-1BC4-8D7A-198CF0381D2C}"/>
              </a:ext>
            </a:extLst>
          </p:cNvPr>
          <p:cNvSpPr/>
          <p:nvPr/>
        </p:nvSpPr>
        <p:spPr>
          <a:xfrm>
            <a:off x="914667" y="5266944"/>
            <a:ext cx="10133161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b="1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2.1.2                                                                Method 2.1.3                                                                         Method 2.1.4</a:t>
            </a:r>
            <a:endParaRPr lang="en-US" sz="1600" dirty="0"/>
          </a:p>
        </p:txBody>
      </p:sp>
      <p:sp>
        <p:nvSpPr>
          <p:cNvPr id="80" name="Text 11">
            <a:extLst>
              <a:ext uri="{FF2B5EF4-FFF2-40B4-BE49-F238E27FC236}">
                <a16:creationId xmlns:a16="http://schemas.microsoft.com/office/drawing/2014/main" id="{F7E7C66B-6ED9-2898-BF15-C87D14A5D5FA}"/>
              </a:ext>
            </a:extLst>
          </p:cNvPr>
          <p:cNvSpPr/>
          <p:nvPr/>
        </p:nvSpPr>
        <p:spPr>
          <a:xfrm>
            <a:off x="6897098" y="210595"/>
            <a:ext cx="2125676" cy="6881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6DE801D2-CFD9-910F-FA37-912055E44098}"/>
              </a:ext>
            </a:extLst>
          </p:cNvPr>
          <p:cNvSpPr/>
          <p:nvPr/>
        </p:nvSpPr>
        <p:spPr>
          <a:xfrm>
            <a:off x="493776" y="321837"/>
            <a:ext cx="2121408" cy="424421"/>
          </a:xfrm>
          <a:prstGeom prst="roundRect">
            <a:avLst>
              <a:gd name="adj" fmla="val 7692"/>
            </a:avLst>
          </a:prstGeom>
          <a:solidFill>
            <a:srgbClr val="E7F5F8"/>
          </a:solidFill>
          <a:ln w="12700">
            <a:solidFill>
              <a:srgbClr val="6CB7C7"/>
            </a:solidFill>
            <a:prstDash val="solid"/>
          </a:ln>
        </p:spPr>
        <p:txBody>
          <a:bodyPr/>
          <a:lstStyle/>
          <a:p>
            <a:pPr algn="ctr"/>
            <a:r>
              <a:rPr lang="en-US" sz="1800" b="1" dirty="0">
                <a:solidFill>
                  <a:srgbClr val="2623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</a:t>
            </a:r>
            <a:endParaRPr lang="en-US" sz="1800" dirty="0"/>
          </a:p>
        </p:txBody>
      </p:sp>
      <p:sp>
        <p:nvSpPr>
          <p:cNvPr id="82" name="Shape 27">
            <a:extLst>
              <a:ext uri="{FF2B5EF4-FFF2-40B4-BE49-F238E27FC236}">
                <a16:creationId xmlns:a16="http://schemas.microsoft.com/office/drawing/2014/main" id="{7C150442-B685-5E33-8E67-C3D0875EBA0E}"/>
              </a:ext>
            </a:extLst>
          </p:cNvPr>
          <p:cNvSpPr/>
          <p:nvPr/>
        </p:nvSpPr>
        <p:spPr>
          <a:xfrm>
            <a:off x="3378065" y="284294"/>
            <a:ext cx="7990661" cy="438093"/>
          </a:xfrm>
          <a:prstGeom prst="roundRect">
            <a:avLst>
              <a:gd name="adj" fmla="val 3902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B57A2A"/>
            </a:solidFill>
            <a:prstDash val="solid"/>
          </a:ln>
        </p:spPr>
        <p:txBody>
          <a:bodyPr/>
          <a:lstStyle/>
          <a:p>
            <a:pPr algn="ctr"/>
            <a:r>
              <a:rPr lang="en-US" sz="1800" b="1" dirty="0">
                <a:solidFill>
                  <a:srgbClr val="26231D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Normative choice? Subjective choice? </a:t>
            </a:r>
            <a:endParaRPr lang="en-US" sz="1800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232</Words>
  <Application>Microsoft Macintosh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Cambria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Prospective forcing and decay to pAGWP to pGWP</dc:title>
  <dc:subject>Prospective pGWP logic schema</dc:subject>
  <dc:creator>OpenAI</dc:creator>
  <cp:lastModifiedBy>Susie Wu</cp:lastModifiedBy>
  <cp:revision>42</cp:revision>
  <dcterms:created xsi:type="dcterms:W3CDTF">2026-03-24T16:13:25Z</dcterms:created>
  <dcterms:modified xsi:type="dcterms:W3CDTF">2026-04-01T23:11:08Z</dcterms:modified>
</cp:coreProperties>
</file>